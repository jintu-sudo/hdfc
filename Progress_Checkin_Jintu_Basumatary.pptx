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5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5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2161520" cy="6858000"/>
          </a:xfrm>
          <a:prstGeom prst="rect"/>
          <a:solidFill>
            <a:srgbClr val="1E2761"/>
          </a:solidFill>
        </p:spPr>
      </p:sp>
      <p:sp>
        <p:nvSpPr>
          <p:cNvPr id="1048577" name="Shape 1"/>
          <p:cNvSpPr/>
          <p:nvPr/>
        </p:nvSpPr>
        <p:spPr>
          <a:xfrm>
            <a:off x="9692640" y="-1188720"/>
            <a:ext cx="4114800" cy="4114800"/>
          </a:xfrm>
          <a:prstGeom prst="ellipse"/>
          <a:solidFill>
            <a:srgbClr val="27327A"/>
          </a:solidFill>
        </p:spPr>
      </p:sp>
      <p:sp>
        <p:nvSpPr>
          <p:cNvPr id="1048578" name="Shape 2"/>
          <p:cNvSpPr/>
          <p:nvPr/>
        </p:nvSpPr>
        <p:spPr>
          <a:xfrm>
            <a:off x="10789920" y="4206240"/>
            <a:ext cx="2926080" cy="2926080"/>
          </a:xfrm>
          <a:prstGeom prst="ellipse"/>
          <a:solidFill>
            <a:srgbClr val="27327A"/>
          </a:solidFill>
        </p:spPr>
      </p:sp>
      <p:sp>
        <p:nvSpPr>
          <p:cNvPr id="1048579" name="Text 3"/>
          <p:cNvSpPr/>
          <p:nvPr/>
        </p:nvSpPr>
        <p:spPr>
          <a:xfrm>
            <a:off x="548640" y="2148840"/>
            <a:ext cx="8229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kern="0" lang="en-US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CHECK-IN</a:t>
            </a:r>
            <a:endParaRPr dirty="0" sz="1500" lang="en-US"/>
          </a:p>
        </p:txBody>
      </p:sp>
      <p:sp>
        <p:nvSpPr>
          <p:cNvPr id="1048580" name="Text 4"/>
          <p:cNvSpPr/>
          <p:nvPr/>
        </p:nvSpPr>
        <p:spPr>
          <a:xfrm>
            <a:off x="548640" y="2606040"/>
            <a:ext cx="868680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4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Learning Journey</a:t>
            </a:r>
            <a:endParaRPr dirty="0" sz="4200" lang="en-US"/>
          </a:p>
        </p:txBody>
      </p:sp>
      <p:sp>
        <p:nvSpPr>
          <p:cNvPr id="1048581" name="Text 5"/>
          <p:cNvSpPr/>
          <p:nvPr/>
        </p:nvSpPr>
        <p:spPr>
          <a:xfrm>
            <a:off x="548640" y="3840480"/>
            <a:ext cx="73152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</a:t>
            </a:r>
            <a:endParaRPr dirty="0" sz="2200" lang="en-US"/>
          </a:p>
        </p:txBody>
      </p:sp>
      <p:sp>
        <p:nvSpPr>
          <p:cNvPr id="1048582" name="Text 6"/>
          <p:cNvSpPr/>
          <p:nvPr/>
        </p:nvSpPr>
        <p:spPr>
          <a:xfrm>
            <a:off x="548640" y="4343400"/>
            <a:ext cx="8686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Analyst — Frontend Engineer, Enterprise Payments Hub (NEFT &amp; RTGS)</a:t>
            </a:r>
            <a:endParaRPr dirty="0" sz="1400" lang="en-US"/>
          </a:p>
        </p:txBody>
      </p:sp>
      <p:sp>
        <p:nvSpPr>
          <p:cNvPr id="1048583" name="Text 7"/>
          <p:cNvSpPr/>
          <p:nvPr/>
        </p:nvSpPr>
        <p:spPr>
          <a:xfrm>
            <a:off x="548640" y="4754880"/>
            <a:ext cx="8686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Guwahati, Assam</a:t>
            </a: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Shape 0"/>
          <p:cNvSpPr/>
          <p:nvPr/>
        </p:nvSpPr>
        <p:spPr>
          <a:xfrm>
            <a:off x="548640" y="502920"/>
            <a:ext cx="502920" cy="502920"/>
          </a:xfrm>
          <a:prstGeom prst="ellipse"/>
          <a:solidFill>
            <a:srgbClr val="1E2761"/>
          </a:solidFill>
        </p:spPr>
      </p:sp>
      <p:sp>
        <p:nvSpPr>
          <p:cNvPr id="1048588" name="Text 1"/>
          <p:cNvSpPr/>
          <p:nvPr/>
        </p:nvSpPr>
        <p:spPr>
          <a:xfrm>
            <a:off x="548640" y="502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2000" lang="en-US"/>
          </a:p>
        </p:txBody>
      </p:sp>
      <p:sp>
        <p:nvSpPr>
          <p:cNvPr id="1048589" name="Text 2"/>
          <p:cNvSpPr/>
          <p:nvPr/>
        </p:nvSpPr>
        <p:spPr>
          <a:xfrm>
            <a:off x="1234440" y="457200"/>
            <a:ext cx="103784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dirty="0" sz="3000" lang="en-US"/>
          </a:p>
        </p:txBody>
      </p:sp>
      <p:sp>
        <p:nvSpPr>
          <p:cNvPr id="1048590" name="Shape 3"/>
          <p:cNvSpPr/>
          <p:nvPr/>
        </p:nvSpPr>
        <p:spPr>
          <a:xfrm>
            <a:off x="548640" y="141732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F4F6FC"/>
          </a:solidFill>
        </p:spPr>
      </p:sp>
      <p:sp>
        <p:nvSpPr>
          <p:cNvPr id="1048591" name="Shape 4"/>
          <p:cNvSpPr/>
          <p:nvPr/>
        </p:nvSpPr>
        <p:spPr>
          <a:xfrm>
            <a:off x="1005840" y="1920240"/>
            <a:ext cx="1188720" cy="1188720"/>
          </a:xfrm>
          <a:prstGeom prst="ellipse"/>
          <a:solidFill>
            <a:srgbClr val="1E2761"/>
          </a:solidFill>
        </p:spPr>
      </p:sp>
      <p:sp>
        <p:nvSpPr>
          <p:cNvPr id="1048592" name="Text 5"/>
          <p:cNvSpPr/>
          <p:nvPr/>
        </p:nvSpPr>
        <p:spPr>
          <a:xfrm>
            <a:off x="1005840" y="1920240"/>
            <a:ext cx="1188720" cy="11887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</a:t>
            </a:r>
            <a:endParaRPr dirty="0" sz="2600" lang="en-US"/>
          </a:p>
        </p:txBody>
      </p:sp>
      <p:sp>
        <p:nvSpPr>
          <p:cNvPr id="1048593" name="Text 6"/>
          <p:cNvSpPr/>
          <p:nvPr/>
        </p:nvSpPr>
        <p:spPr>
          <a:xfrm>
            <a:off x="2560320" y="196596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Jintu Basumatary</a:t>
            </a:r>
            <a:endParaRPr dirty="0" sz="2400" lang="en-US"/>
          </a:p>
        </p:txBody>
      </p:sp>
      <p:sp>
        <p:nvSpPr>
          <p:cNvPr id="1048594" name="Text 7"/>
          <p:cNvSpPr/>
          <p:nvPr/>
        </p:nvSpPr>
        <p:spPr>
          <a:xfrm>
            <a:off x="2560320" y="2423160"/>
            <a:ext cx="73152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i="1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Guwahati, Assam</a:t>
            </a:r>
            <a:endParaRPr dirty="0" sz="1400" lang="en-US"/>
          </a:p>
        </p:txBody>
      </p:sp>
      <p:sp>
        <p:nvSpPr>
          <p:cNvPr id="1048595" name="Shape 8"/>
          <p:cNvSpPr/>
          <p:nvPr/>
        </p:nvSpPr>
        <p:spPr>
          <a:xfrm>
            <a:off x="1005840" y="3136392"/>
            <a:ext cx="109728" cy="365760"/>
          </a:xfrm>
          <a:prstGeom prst="rect"/>
          <a:solidFill>
            <a:srgbClr val="1E2761"/>
          </a:solidFill>
        </p:spPr>
      </p:sp>
      <p:sp>
        <p:nvSpPr>
          <p:cNvPr id="1048596" name="Text 9"/>
          <p:cNvSpPr/>
          <p:nvPr/>
        </p:nvSpPr>
        <p:spPr>
          <a:xfrm>
            <a:off x="1280160" y="3063240"/>
            <a:ext cx="27432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</a:t>
            </a:r>
            <a:endParaRPr dirty="0" sz="1100" lang="en-US"/>
          </a:p>
        </p:txBody>
      </p:sp>
      <p:sp>
        <p:nvSpPr>
          <p:cNvPr id="1048597" name="Text 10"/>
          <p:cNvSpPr/>
          <p:nvPr/>
        </p:nvSpPr>
        <p:spPr>
          <a:xfrm>
            <a:off x="1280160" y="3319272"/>
            <a:ext cx="8686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Analyst</a:t>
            </a:r>
            <a:endParaRPr dirty="0" sz="1600" lang="en-US"/>
          </a:p>
        </p:txBody>
      </p:sp>
      <p:sp>
        <p:nvSpPr>
          <p:cNvPr id="1048598" name="Shape 11"/>
          <p:cNvSpPr/>
          <p:nvPr/>
        </p:nvSpPr>
        <p:spPr>
          <a:xfrm>
            <a:off x="1005840" y="3849624"/>
            <a:ext cx="109728" cy="365760"/>
          </a:xfrm>
          <a:prstGeom prst="rect"/>
          <a:solidFill>
            <a:srgbClr val="1E2761"/>
          </a:solidFill>
        </p:spPr>
      </p:sp>
      <p:sp>
        <p:nvSpPr>
          <p:cNvPr id="1048599" name="Text 12"/>
          <p:cNvSpPr/>
          <p:nvPr/>
        </p:nvSpPr>
        <p:spPr>
          <a:xfrm>
            <a:off x="1280160" y="3776472"/>
            <a:ext cx="27432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dirty="0" sz="1100" lang="en-US"/>
          </a:p>
        </p:txBody>
      </p:sp>
      <p:sp>
        <p:nvSpPr>
          <p:cNvPr id="1048600" name="Text 13"/>
          <p:cNvSpPr/>
          <p:nvPr/>
        </p:nvSpPr>
        <p:spPr>
          <a:xfrm>
            <a:off x="1280160" y="4032504"/>
            <a:ext cx="8686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dirty="0" sz="1600" lang="en-US"/>
          </a:p>
        </p:txBody>
      </p:sp>
      <p:sp>
        <p:nvSpPr>
          <p:cNvPr id="1048601" name="Shape 14"/>
          <p:cNvSpPr/>
          <p:nvPr/>
        </p:nvSpPr>
        <p:spPr>
          <a:xfrm>
            <a:off x="1005840" y="4562856"/>
            <a:ext cx="109728" cy="365760"/>
          </a:xfrm>
          <a:prstGeom prst="rect"/>
          <a:solidFill>
            <a:srgbClr val="1E2761"/>
          </a:solidFill>
        </p:spPr>
      </p:sp>
      <p:sp>
        <p:nvSpPr>
          <p:cNvPr id="1048602" name="Text 15"/>
          <p:cNvSpPr/>
          <p:nvPr/>
        </p:nvSpPr>
        <p:spPr>
          <a:xfrm>
            <a:off x="1280160" y="4489704"/>
            <a:ext cx="27432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dirty="0" sz="1100" lang="en-US"/>
          </a:p>
        </p:txBody>
      </p:sp>
      <p:sp>
        <p:nvSpPr>
          <p:cNvPr id="1048603" name="Text 16"/>
          <p:cNvSpPr/>
          <p:nvPr/>
        </p:nvSpPr>
        <p:spPr>
          <a:xfrm>
            <a:off x="1280160" y="4745736"/>
            <a:ext cx="8686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Payments Hub — NEFT &amp; RTGS</a:t>
            </a:r>
            <a:endParaRPr dirty="0" sz="1600" lang="en-US"/>
          </a:p>
        </p:txBody>
      </p:sp>
      <p:sp>
        <p:nvSpPr>
          <p:cNvPr id="1048604" name="Text 17"/>
          <p:cNvSpPr/>
          <p:nvPr/>
        </p:nvSpPr>
        <p:spPr>
          <a:xfrm>
            <a:off x="548640" y="6473952"/>
            <a:ext cx="105156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dirty="0" sz="900" lang="en-US"/>
          </a:p>
        </p:txBody>
      </p:sp>
      <p:sp>
        <p:nvSpPr>
          <p:cNvPr id="1048605" name="Text 18"/>
          <p:cNvSpPr/>
          <p:nvPr/>
        </p:nvSpPr>
        <p:spPr>
          <a:xfrm>
            <a:off x="11338560" y="6473952"/>
            <a:ext cx="45720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hape 0"/>
          <p:cNvSpPr/>
          <p:nvPr/>
        </p:nvSpPr>
        <p:spPr>
          <a:xfrm>
            <a:off x="548640" y="502920"/>
            <a:ext cx="502920" cy="502920"/>
          </a:xfrm>
          <a:prstGeom prst="ellipse"/>
          <a:solidFill>
            <a:srgbClr val="1E2761"/>
          </a:solidFill>
        </p:spPr>
      </p:sp>
      <p:sp>
        <p:nvSpPr>
          <p:cNvPr id="1048610" name="Text 1"/>
          <p:cNvSpPr/>
          <p:nvPr/>
        </p:nvSpPr>
        <p:spPr>
          <a:xfrm>
            <a:off x="548640" y="502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2000" lang="en-US"/>
          </a:p>
        </p:txBody>
      </p:sp>
      <p:sp>
        <p:nvSpPr>
          <p:cNvPr id="1048611" name="Text 2"/>
          <p:cNvSpPr/>
          <p:nvPr/>
        </p:nvSpPr>
        <p:spPr>
          <a:xfrm>
            <a:off x="1234440" y="457200"/>
            <a:ext cx="103784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Background</a:t>
            </a:r>
            <a:endParaRPr dirty="0" sz="3000" lang="en-US"/>
          </a:p>
        </p:txBody>
      </p:sp>
      <p:sp>
        <p:nvSpPr>
          <p:cNvPr id="1048612" name="Shape 3"/>
          <p:cNvSpPr/>
          <p:nvPr/>
        </p:nvSpPr>
        <p:spPr>
          <a:xfrm>
            <a:off x="548640" y="16002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6FC"/>
          </a:solidFill>
        </p:spPr>
      </p:sp>
      <p:sp>
        <p:nvSpPr>
          <p:cNvPr id="1048613" name="Shape 4"/>
          <p:cNvSpPr/>
          <p:nvPr/>
        </p:nvSpPr>
        <p:spPr>
          <a:xfrm>
            <a:off x="6309360" y="16002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</p:spPr>
      </p:sp>
      <p:sp>
        <p:nvSpPr>
          <p:cNvPr id="1048614" name="Text 5"/>
          <p:cNvSpPr/>
          <p:nvPr/>
        </p:nvSpPr>
        <p:spPr>
          <a:xfrm>
            <a:off x="914400" y="1965960"/>
            <a:ext cx="4480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dirty="0" sz="1200" lang="en-US"/>
          </a:p>
        </p:txBody>
      </p:sp>
      <p:sp>
        <p:nvSpPr>
          <p:cNvPr id="1048615" name="Text 6"/>
          <p:cNvSpPr/>
          <p:nvPr/>
        </p:nvSpPr>
        <p:spPr>
          <a:xfrm>
            <a:off x="914400" y="2240280"/>
            <a:ext cx="4480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BCA</a:t>
            </a:r>
            <a:endParaRPr dirty="0" sz="3400" lang="en-US"/>
          </a:p>
        </p:txBody>
      </p:sp>
      <p:sp>
        <p:nvSpPr>
          <p:cNvPr id="1048616" name="Text 7"/>
          <p:cNvSpPr/>
          <p:nvPr/>
        </p:nvSpPr>
        <p:spPr>
          <a:xfrm>
            <a:off x="914400" y="2880360"/>
            <a:ext cx="448056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Applications</a:t>
            </a:r>
            <a:endParaRPr dirty="0" sz="1300" lang="en-US"/>
          </a:p>
        </p:txBody>
      </p:sp>
      <p:sp>
        <p:nvSpPr>
          <p:cNvPr id="1048617" name="Text 8"/>
          <p:cNvSpPr/>
          <p:nvPr/>
        </p:nvSpPr>
        <p:spPr>
          <a:xfrm>
            <a:off x="914400" y="3429000"/>
            <a:ext cx="4480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dirty="0" sz="1200" lang="en-US"/>
          </a:p>
        </p:txBody>
      </p:sp>
      <p:sp>
        <p:nvSpPr>
          <p:cNvPr id="1048618" name="Text 9"/>
          <p:cNvSpPr/>
          <p:nvPr/>
        </p:nvSpPr>
        <p:spPr>
          <a:xfrm>
            <a:off x="914400" y="3703320"/>
            <a:ext cx="4480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dirty="0" sz="1800" lang="en-US"/>
          </a:p>
        </p:txBody>
      </p:sp>
      <p:sp>
        <p:nvSpPr>
          <p:cNvPr id="1048619" name="Shape 10"/>
          <p:cNvSpPr/>
          <p:nvPr/>
        </p:nvSpPr>
        <p:spPr>
          <a:xfrm>
            <a:off x="914400" y="4343400"/>
            <a:ext cx="4114800" cy="0"/>
          </a:xfrm>
          <a:prstGeom prst="line"/>
          <a:noFill/>
          <a:ln w="12700">
            <a:solidFill>
              <a:srgbClr val="D9DFF2"/>
            </a:solidFill>
            <a:prstDash val="solid"/>
          </a:ln>
        </p:spPr>
      </p:sp>
      <p:sp>
        <p:nvSpPr>
          <p:cNvPr id="1048620" name="Text 11"/>
          <p:cNvSpPr/>
          <p:nvPr/>
        </p:nvSpPr>
        <p:spPr>
          <a:xfrm>
            <a:off x="914400" y="4526280"/>
            <a:ext cx="448056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built a strong analytical and problem-solving foundation, even outside the specialization domain.</a:t>
            </a:r>
            <a:endParaRPr dirty="0" sz="1200" lang="en-US"/>
          </a:p>
        </p:txBody>
      </p:sp>
      <p:sp>
        <p:nvSpPr>
          <p:cNvPr id="1048621" name="Text 12"/>
          <p:cNvSpPr/>
          <p:nvPr/>
        </p:nvSpPr>
        <p:spPr>
          <a:xfrm>
            <a:off x="6583680" y="1965960"/>
            <a:ext cx="4480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INTEREST</a:t>
            </a:r>
            <a:endParaRPr dirty="0" sz="1200" lang="en-US"/>
          </a:p>
        </p:txBody>
      </p:sp>
      <p:sp>
        <p:nvSpPr>
          <p:cNvPr id="1048622" name="Text 13"/>
          <p:cNvSpPr/>
          <p:nvPr/>
        </p:nvSpPr>
        <p:spPr>
          <a:xfrm>
            <a:off x="6583680" y="2240280"/>
            <a:ext cx="4480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dirty="0" sz="3400" lang="en-US"/>
          </a:p>
        </p:txBody>
      </p:sp>
      <p:sp>
        <p:nvSpPr>
          <p:cNvPr id="1048623" name="Text 14"/>
          <p:cNvSpPr/>
          <p:nvPr/>
        </p:nvSpPr>
        <p:spPr>
          <a:xfrm>
            <a:off x="6583680" y="2880360"/>
            <a:ext cx="4480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automation, and infrastructure practices</a:t>
            </a:r>
            <a:endParaRPr dirty="0" sz="1300" lang="en-US"/>
          </a:p>
        </p:txBody>
      </p:sp>
      <p:sp>
        <p:nvSpPr>
          <p:cNvPr id="1048624" name="Text 15"/>
          <p:cNvSpPr/>
          <p:nvPr/>
        </p:nvSpPr>
        <p:spPr>
          <a:xfrm>
            <a:off x="6583680" y="3520440"/>
            <a:ext cx="4480560" cy="17373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building frontend fundamentals on-project, while keeping DevOps as a longer-term growth interest to pursue alongside it.</a:t>
            </a:r>
            <a:endParaRPr dirty="0" sz="1300" lang="en-US"/>
          </a:p>
        </p:txBody>
      </p:sp>
      <p:sp>
        <p:nvSpPr>
          <p:cNvPr id="1048625" name="Text 16"/>
          <p:cNvSpPr/>
          <p:nvPr/>
        </p:nvSpPr>
        <p:spPr>
          <a:xfrm>
            <a:off x="548640" y="6473952"/>
            <a:ext cx="105156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dirty="0" sz="900" lang="en-US"/>
          </a:p>
        </p:txBody>
      </p:sp>
      <p:sp>
        <p:nvSpPr>
          <p:cNvPr id="1048626" name="Text 17"/>
          <p:cNvSpPr/>
          <p:nvPr/>
        </p:nvSpPr>
        <p:spPr>
          <a:xfrm>
            <a:off x="11338560" y="6473952"/>
            <a:ext cx="45720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Shape 0"/>
          <p:cNvSpPr/>
          <p:nvPr/>
        </p:nvSpPr>
        <p:spPr>
          <a:xfrm>
            <a:off x="548640" y="502920"/>
            <a:ext cx="502920" cy="502920"/>
          </a:xfrm>
          <a:prstGeom prst="ellipse"/>
          <a:solidFill>
            <a:srgbClr val="1E2761"/>
          </a:solidFill>
        </p:spPr>
      </p:sp>
      <p:sp>
        <p:nvSpPr>
          <p:cNvPr id="1048631" name="Text 1"/>
          <p:cNvSpPr/>
          <p:nvPr/>
        </p:nvSpPr>
        <p:spPr>
          <a:xfrm>
            <a:off x="548640" y="502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2000" lang="en-US"/>
          </a:p>
        </p:txBody>
      </p:sp>
      <p:sp>
        <p:nvSpPr>
          <p:cNvPr id="1048632" name="Text 2"/>
          <p:cNvSpPr/>
          <p:nvPr/>
        </p:nvSpPr>
        <p:spPr>
          <a:xfrm>
            <a:off x="1234440" y="457200"/>
            <a:ext cx="103784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Grasp from Code Takeover Sessions</a:t>
            </a:r>
            <a:endParaRPr dirty="0" sz="3000" lang="en-US"/>
          </a:p>
        </p:txBody>
      </p:sp>
      <p:sp>
        <p:nvSpPr>
          <p:cNvPr id="1048633" name="Shape 3"/>
          <p:cNvSpPr/>
          <p:nvPr/>
        </p:nvSpPr>
        <p:spPr>
          <a:xfrm>
            <a:off x="548640" y="160020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F4F6FC"/>
          </a:solidFill>
        </p:spPr>
      </p:sp>
      <p:sp>
        <p:nvSpPr>
          <p:cNvPr id="1048634" name="Text 4"/>
          <p:cNvSpPr/>
          <p:nvPr/>
        </p:nvSpPr>
        <p:spPr>
          <a:xfrm>
            <a:off x="822960" y="1920240"/>
            <a:ext cx="32918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self-check</a:t>
            </a:r>
            <a:endParaRPr dirty="0" sz="1300" lang="en-US"/>
          </a:p>
        </p:txBody>
      </p:sp>
      <p:sp>
        <p:nvSpPr>
          <p:cNvPr id="1048635" name="Text 5"/>
          <p:cNvSpPr/>
          <p:nvPr/>
        </p:nvSpPr>
        <p:spPr>
          <a:xfrm>
            <a:off x="822960" y="2331720"/>
            <a:ext cx="3291840" cy="1463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05000"/>
              </a:lnSpc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</a:t>
            </a:r>
            <a:endParaRPr dirty="0" sz="3200" lang="en-US"/>
          </a:p>
          <a:p>
            <a:pPr indent="0" marL="0">
              <a:lnSpc>
                <a:spcPct val="105000"/>
              </a:lnSpc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</a:t>
            </a:r>
            <a:endParaRPr dirty="0" sz="3200" lang="en-US"/>
          </a:p>
        </p:txBody>
      </p:sp>
      <p:sp>
        <p:nvSpPr>
          <p:cNvPr id="1048636" name="Text 6"/>
          <p:cNvSpPr/>
          <p:nvPr/>
        </p:nvSpPr>
        <p:spPr>
          <a:xfrm>
            <a:off x="822960" y="3794760"/>
            <a:ext cx="3291840" cy="1554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new concepts come up in a single session — full grasp doesn't happen in one pass.</a:t>
            </a:r>
            <a:endParaRPr dirty="0" sz="1300" lang="en-US"/>
          </a:p>
        </p:txBody>
      </p:sp>
      <p:sp>
        <p:nvSpPr>
          <p:cNvPr id="1048637" name="Shape 7"/>
          <p:cNvSpPr/>
          <p:nvPr/>
        </p:nvSpPr>
        <p:spPr>
          <a:xfrm>
            <a:off x="4937760" y="1691640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638" name="Text 8"/>
          <p:cNvSpPr/>
          <p:nvPr/>
        </p:nvSpPr>
        <p:spPr>
          <a:xfrm>
            <a:off x="4937760" y="169164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400" lang="en-US"/>
          </a:p>
        </p:txBody>
      </p:sp>
      <p:sp>
        <p:nvSpPr>
          <p:cNvPr id="1048639" name="Text 9"/>
          <p:cNvSpPr/>
          <p:nvPr/>
        </p:nvSpPr>
        <p:spPr>
          <a:xfrm>
            <a:off x="5486400" y="1636776"/>
            <a:ext cx="612648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sinks in during the live walkthrough — a lot of new concepts get introduced at once</a:t>
            </a:r>
            <a:endParaRPr dirty="0" sz="1350" lang="en-US"/>
          </a:p>
        </p:txBody>
      </p:sp>
      <p:sp>
        <p:nvSpPr>
          <p:cNvPr id="1048640" name="Shape 10"/>
          <p:cNvSpPr/>
          <p:nvPr/>
        </p:nvSpPr>
        <p:spPr>
          <a:xfrm>
            <a:off x="4937760" y="2624328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641" name="Text 11"/>
          <p:cNvSpPr/>
          <p:nvPr/>
        </p:nvSpPr>
        <p:spPr>
          <a:xfrm>
            <a:off x="4937760" y="2624328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400" lang="en-US"/>
          </a:p>
        </p:txBody>
      </p:sp>
      <p:sp>
        <p:nvSpPr>
          <p:cNvPr id="1048642" name="Text 12"/>
          <p:cNvSpPr/>
          <p:nvPr/>
        </p:nvSpPr>
        <p:spPr>
          <a:xfrm>
            <a:off x="5486400" y="2569464"/>
            <a:ext cx="612648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going back to Confluence documentation after sessions to reinforce what was covered</a:t>
            </a:r>
            <a:endParaRPr dirty="0" sz="1350" lang="en-US"/>
          </a:p>
        </p:txBody>
      </p:sp>
      <p:sp>
        <p:nvSpPr>
          <p:cNvPr id="1048643" name="Shape 13"/>
          <p:cNvSpPr/>
          <p:nvPr/>
        </p:nvSpPr>
        <p:spPr>
          <a:xfrm>
            <a:off x="4937760" y="3557016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644" name="Text 14"/>
          <p:cNvSpPr/>
          <p:nvPr/>
        </p:nvSpPr>
        <p:spPr>
          <a:xfrm>
            <a:off x="4937760" y="355701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400" lang="en-US"/>
          </a:p>
        </p:txBody>
      </p:sp>
      <p:sp>
        <p:nvSpPr>
          <p:cNvPr id="1048645" name="Text 15"/>
          <p:cNvSpPr/>
          <p:nvPr/>
        </p:nvSpPr>
        <p:spPr>
          <a:xfrm>
            <a:off x="5486400" y="3502152"/>
            <a:ext cx="612648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and cross-referencing code with docs to close the gaps missed live</a:t>
            </a:r>
            <a:endParaRPr dirty="0" sz="1350" lang="en-US"/>
          </a:p>
        </p:txBody>
      </p:sp>
      <p:sp>
        <p:nvSpPr>
          <p:cNvPr id="1048646" name="Shape 16"/>
          <p:cNvSpPr/>
          <p:nvPr/>
        </p:nvSpPr>
        <p:spPr>
          <a:xfrm>
            <a:off x="4937760" y="4489704"/>
            <a:ext cx="384048" cy="384048"/>
          </a:xfrm>
          <a:prstGeom prst="ellipse"/>
          <a:solidFill>
            <a:srgbClr val="1E2761"/>
          </a:solidFill>
        </p:spPr>
      </p:sp>
      <p:sp>
        <p:nvSpPr>
          <p:cNvPr id="1048647" name="Text 17"/>
          <p:cNvSpPr/>
          <p:nvPr/>
        </p:nvSpPr>
        <p:spPr>
          <a:xfrm>
            <a:off x="4937760" y="448970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400" lang="en-US"/>
          </a:p>
        </p:txBody>
      </p:sp>
      <p:sp>
        <p:nvSpPr>
          <p:cNvPr id="1048648" name="Text 18"/>
          <p:cNvSpPr/>
          <p:nvPr/>
        </p:nvSpPr>
        <p:spPr>
          <a:xfrm>
            <a:off x="5486400" y="4434840"/>
            <a:ext cx="612648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is improving steadily session over session as the underlying context becomes familiar</a:t>
            </a:r>
            <a:endParaRPr dirty="0" sz="1350" lang="en-US"/>
          </a:p>
        </p:txBody>
      </p:sp>
      <p:sp>
        <p:nvSpPr>
          <p:cNvPr id="1048649" name="Text 19"/>
          <p:cNvSpPr/>
          <p:nvPr/>
        </p:nvSpPr>
        <p:spPr>
          <a:xfrm>
            <a:off x="548640" y="6473952"/>
            <a:ext cx="105156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dirty="0" sz="900" lang="en-US"/>
          </a:p>
        </p:txBody>
      </p:sp>
      <p:sp>
        <p:nvSpPr>
          <p:cNvPr id="1048650" name="Text 20"/>
          <p:cNvSpPr/>
          <p:nvPr/>
        </p:nvSpPr>
        <p:spPr>
          <a:xfrm>
            <a:off x="11338560" y="6473952"/>
            <a:ext cx="45720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Shape 0"/>
          <p:cNvSpPr/>
          <p:nvPr/>
        </p:nvSpPr>
        <p:spPr>
          <a:xfrm>
            <a:off x="548640" y="502920"/>
            <a:ext cx="502920" cy="502920"/>
          </a:xfrm>
          <a:prstGeom prst="ellipse"/>
          <a:solidFill>
            <a:srgbClr val="1E2761"/>
          </a:solidFill>
        </p:spPr>
      </p:sp>
      <p:sp>
        <p:nvSpPr>
          <p:cNvPr id="1048655" name="Text 1"/>
          <p:cNvSpPr/>
          <p:nvPr/>
        </p:nvSpPr>
        <p:spPr>
          <a:xfrm>
            <a:off x="548640" y="502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2000" lang="en-US"/>
          </a:p>
        </p:txBody>
      </p:sp>
      <p:sp>
        <p:nvSpPr>
          <p:cNvPr id="1048656" name="Text 2"/>
          <p:cNvSpPr/>
          <p:nvPr/>
        </p:nvSpPr>
        <p:spPr>
          <a:xfrm>
            <a:off x="1234440" y="457200"/>
            <a:ext cx="103784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Guidance</a:t>
            </a:r>
            <a:endParaRPr dirty="0" sz="3000" lang="en-US"/>
          </a:p>
        </p:txBody>
      </p:sp>
      <p:sp>
        <p:nvSpPr>
          <p:cNvPr id="1048657" name="Shape 3"/>
          <p:cNvSpPr/>
          <p:nvPr/>
        </p:nvSpPr>
        <p:spPr>
          <a:xfrm>
            <a:off x="548640" y="16002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4F6FC"/>
          </a:solidFill>
        </p:spPr>
      </p:sp>
      <p:sp>
        <p:nvSpPr>
          <p:cNvPr id="1048658" name="Shape 4"/>
          <p:cNvSpPr/>
          <p:nvPr/>
        </p:nvSpPr>
        <p:spPr>
          <a:xfrm>
            <a:off x="1005840" y="2011680"/>
            <a:ext cx="822960" cy="822960"/>
          </a:xfrm>
          <a:prstGeom prst="ellipse"/>
          <a:solidFill>
            <a:srgbClr val="1E2761"/>
          </a:solidFill>
        </p:spPr>
      </p:sp>
      <p:sp>
        <p:nvSpPr>
          <p:cNvPr id="1048659" name="Text 5"/>
          <p:cNvSpPr/>
          <p:nvPr/>
        </p:nvSpPr>
        <p:spPr>
          <a:xfrm>
            <a:off x="1005840" y="2011680"/>
            <a:ext cx="82296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dirty="0" sz="2600" lang="en-US"/>
          </a:p>
        </p:txBody>
      </p:sp>
      <p:sp>
        <p:nvSpPr>
          <p:cNvPr id="1048660" name="Text 6"/>
          <p:cNvSpPr/>
          <p:nvPr/>
        </p:nvSpPr>
        <p:spPr>
          <a:xfrm>
            <a:off x="2103120" y="2057400"/>
            <a:ext cx="8686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mentors are actively supportive</a:t>
            </a:r>
            <a:endParaRPr dirty="0" sz="2200" lang="en-US"/>
          </a:p>
        </p:txBody>
      </p:sp>
      <p:sp>
        <p:nvSpPr>
          <p:cNvPr id="1048661" name="Text 7"/>
          <p:cNvSpPr/>
          <p:nvPr/>
        </p:nvSpPr>
        <p:spPr>
          <a:xfrm>
            <a:off x="2103120" y="2514600"/>
            <a:ext cx="8686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i="1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mentor has been unhelpful — support has been consistent across the board.</a:t>
            </a:r>
            <a:endParaRPr dirty="0" sz="1300" lang="en-US"/>
          </a:p>
        </p:txBody>
      </p:sp>
      <p:sp>
        <p:nvSpPr>
          <p:cNvPr id="1048662" name="Shape 8"/>
          <p:cNvSpPr/>
          <p:nvPr/>
        </p:nvSpPr>
        <p:spPr>
          <a:xfrm>
            <a:off x="1005840" y="3255264"/>
            <a:ext cx="91440" cy="292608"/>
          </a:xfrm>
          <a:prstGeom prst="rect"/>
          <a:solidFill>
            <a:srgbClr val="1E2761"/>
          </a:solidFill>
        </p:spPr>
      </p:sp>
      <p:sp>
        <p:nvSpPr>
          <p:cNvPr id="1048663" name="Text 9"/>
          <p:cNvSpPr/>
          <p:nvPr/>
        </p:nvSpPr>
        <p:spPr>
          <a:xfrm>
            <a:off x="1280160" y="3200400"/>
            <a:ext cx="95097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that the team is new and don't force strict time constraints</a:t>
            </a:r>
            <a:endParaRPr dirty="0" sz="1450" lang="en-US"/>
          </a:p>
        </p:txBody>
      </p:sp>
      <p:sp>
        <p:nvSpPr>
          <p:cNvPr id="1048664" name="Shape 10"/>
          <p:cNvSpPr/>
          <p:nvPr/>
        </p:nvSpPr>
        <p:spPr>
          <a:xfrm>
            <a:off x="1005840" y="3822192"/>
            <a:ext cx="91440" cy="292608"/>
          </a:xfrm>
          <a:prstGeom prst="rect"/>
          <a:solidFill>
            <a:srgbClr val="1E2761"/>
          </a:solidFill>
        </p:spPr>
      </p:sp>
      <p:sp>
        <p:nvSpPr>
          <p:cNvPr id="1048665" name="Text 11"/>
          <p:cNvSpPr/>
          <p:nvPr/>
        </p:nvSpPr>
        <p:spPr>
          <a:xfrm>
            <a:off x="1280160" y="3767328"/>
            <a:ext cx="95097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time needed to explain any doubt thoroughly, however basic</a:t>
            </a:r>
            <a:endParaRPr dirty="0" sz="1450" lang="en-US"/>
          </a:p>
        </p:txBody>
      </p:sp>
      <p:sp>
        <p:nvSpPr>
          <p:cNvPr id="1048666" name="Shape 12"/>
          <p:cNvSpPr/>
          <p:nvPr/>
        </p:nvSpPr>
        <p:spPr>
          <a:xfrm>
            <a:off x="1005840" y="4389120"/>
            <a:ext cx="91440" cy="292608"/>
          </a:xfrm>
          <a:prstGeom prst="rect"/>
          <a:solidFill>
            <a:srgbClr val="1E2761"/>
          </a:solidFill>
        </p:spPr>
      </p:sp>
      <p:sp>
        <p:nvSpPr>
          <p:cNvPr id="1048667" name="Text 13"/>
          <p:cNvSpPr/>
          <p:nvPr/>
        </p:nvSpPr>
        <p:spPr>
          <a:xfrm>
            <a:off x="1280160" y="4334256"/>
            <a:ext cx="95097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approachable, and encouraging when questions come up</a:t>
            </a:r>
            <a:endParaRPr dirty="0" sz="1450" lang="en-US"/>
          </a:p>
        </p:txBody>
      </p:sp>
      <p:sp>
        <p:nvSpPr>
          <p:cNvPr id="1048668" name="Text 14"/>
          <p:cNvSpPr/>
          <p:nvPr/>
        </p:nvSpPr>
        <p:spPr>
          <a:xfrm>
            <a:off x="548640" y="6473952"/>
            <a:ext cx="105156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dirty="0" sz="900" lang="en-US"/>
          </a:p>
        </p:txBody>
      </p:sp>
      <p:sp>
        <p:nvSpPr>
          <p:cNvPr id="1048669" name="Text 15"/>
          <p:cNvSpPr/>
          <p:nvPr/>
        </p:nvSpPr>
        <p:spPr>
          <a:xfrm>
            <a:off x="11338560" y="6473952"/>
            <a:ext cx="45720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Shape 0"/>
          <p:cNvSpPr/>
          <p:nvPr/>
        </p:nvSpPr>
        <p:spPr>
          <a:xfrm>
            <a:off x="548640" y="502920"/>
            <a:ext cx="502920" cy="502920"/>
          </a:xfrm>
          <a:prstGeom prst="ellipse"/>
          <a:solidFill>
            <a:srgbClr val="1E2761"/>
          </a:solidFill>
        </p:spPr>
      </p:sp>
      <p:sp>
        <p:nvSpPr>
          <p:cNvPr id="1048674" name="Text 1"/>
          <p:cNvSpPr/>
          <p:nvPr/>
        </p:nvSpPr>
        <p:spPr>
          <a:xfrm>
            <a:off x="548640" y="502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2000" lang="en-US"/>
          </a:p>
        </p:txBody>
      </p:sp>
      <p:sp>
        <p:nvSpPr>
          <p:cNvPr id="1048675" name="Text 2"/>
          <p:cNvSpPr/>
          <p:nvPr/>
        </p:nvSpPr>
        <p:spPr>
          <a:xfrm>
            <a:off x="1234440" y="457200"/>
            <a:ext cx="103784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for Assigned Tasks</a:t>
            </a:r>
            <a:endParaRPr dirty="0" sz="3000" lang="en-US"/>
          </a:p>
        </p:txBody>
      </p:sp>
      <p:sp>
        <p:nvSpPr>
          <p:cNvPr id="1048676" name="Shape 3"/>
          <p:cNvSpPr/>
          <p:nvPr/>
        </p:nvSpPr>
        <p:spPr>
          <a:xfrm>
            <a:off x="548640" y="160020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</p:spPr>
      </p:sp>
      <p:sp>
        <p:nvSpPr>
          <p:cNvPr id="1048677" name="Text 4"/>
          <p:cNvSpPr/>
          <p:nvPr/>
        </p:nvSpPr>
        <p:spPr>
          <a:xfrm>
            <a:off x="822960" y="1965960"/>
            <a:ext cx="4480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dirty="0" sz="1200" lang="en-US"/>
          </a:p>
        </p:txBody>
      </p:sp>
      <p:sp>
        <p:nvSpPr>
          <p:cNvPr id="1048678" name="Text 5"/>
          <p:cNvSpPr/>
          <p:nvPr/>
        </p:nvSpPr>
        <p:spPr>
          <a:xfrm>
            <a:off x="822960" y="2331720"/>
            <a:ext cx="4480560" cy="1371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05000"/>
              </a:lnSpc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at</a:t>
            </a:r>
            <a:endParaRPr dirty="0" sz="3000" lang="en-US"/>
          </a:p>
          <a:p>
            <a:pPr indent="0" marL="0">
              <a:lnSpc>
                <a:spcPct val="105000"/>
              </a:lnSpc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dirty="0" sz="3000" lang="en-US"/>
          </a:p>
        </p:txBody>
      </p:sp>
      <p:sp>
        <p:nvSpPr>
          <p:cNvPr id="1048679" name="Text 6"/>
          <p:cNvSpPr/>
          <p:nvPr/>
        </p:nvSpPr>
        <p:spPr>
          <a:xfrm>
            <a:off x="822960" y="3749040"/>
            <a:ext cx="4480560" cy="1554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building a stronger grasp of fundamentals before taking on independent, assigned work.</a:t>
            </a:r>
            <a:endParaRPr dirty="0" sz="1400" lang="en-US"/>
          </a:p>
        </p:txBody>
      </p:sp>
      <p:sp>
        <p:nvSpPr>
          <p:cNvPr id="1048680" name="Shape 7"/>
          <p:cNvSpPr/>
          <p:nvPr/>
        </p:nvSpPr>
        <p:spPr>
          <a:xfrm>
            <a:off x="6309360" y="16002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6FC"/>
          </a:solidFill>
        </p:spPr>
      </p:sp>
      <p:sp>
        <p:nvSpPr>
          <p:cNvPr id="1048681" name="Text 8"/>
          <p:cNvSpPr/>
          <p:nvPr/>
        </p:nvSpPr>
        <p:spPr>
          <a:xfrm>
            <a:off x="6583680" y="1965960"/>
            <a:ext cx="4480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GET THERE</a:t>
            </a:r>
            <a:endParaRPr dirty="0" sz="1200" lang="en-US"/>
          </a:p>
        </p:txBody>
      </p:sp>
      <p:sp>
        <p:nvSpPr>
          <p:cNvPr id="1048682" name="Shape 9"/>
          <p:cNvSpPr/>
          <p:nvPr/>
        </p:nvSpPr>
        <p:spPr>
          <a:xfrm>
            <a:off x="6583680" y="2404872"/>
            <a:ext cx="146304" cy="146304"/>
          </a:xfrm>
          <a:prstGeom prst="ellipse"/>
          <a:solidFill>
            <a:srgbClr val="1E2761"/>
          </a:solidFill>
        </p:spPr>
      </p:sp>
      <p:sp>
        <p:nvSpPr>
          <p:cNvPr id="1048683" name="Text 10"/>
          <p:cNvSpPr/>
          <p:nvPr/>
        </p:nvSpPr>
        <p:spPr>
          <a:xfrm>
            <a:off x="6903720" y="2267712"/>
            <a:ext cx="45720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core fundamentals of the frontend stack in use</a:t>
            </a:r>
            <a:endParaRPr dirty="0" sz="1300" lang="en-US"/>
          </a:p>
        </p:txBody>
      </p:sp>
      <p:sp>
        <p:nvSpPr>
          <p:cNvPr id="1048684" name="Shape 11"/>
          <p:cNvSpPr/>
          <p:nvPr/>
        </p:nvSpPr>
        <p:spPr>
          <a:xfrm>
            <a:off x="6583680" y="2999232"/>
            <a:ext cx="146304" cy="146304"/>
          </a:xfrm>
          <a:prstGeom prst="ellipse"/>
          <a:solidFill>
            <a:srgbClr val="1E2761"/>
          </a:solidFill>
        </p:spPr>
      </p:sp>
      <p:sp>
        <p:nvSpPr>
          <p:cNvPr id="1048685" name="Text 12"/>
          <p:cNvSpPr/>
          <p:nvPr/>
        </p:nvSpPr>
        <p:spPr>
          <a:xfrm>
            <a:off x="6903720" y="2862072"/>
            <a:ext cx="45720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working through project &amp; Confluence documentation</a:t>
            </a:r>
            <a:endParaRPr dirty="0" sz="1300" lang="en-US"/>
          </a:p>
        </p:txBody>
      </p:sp>
      <p:sp>
        <p:nvSpPr>
          <p:cNvPr id="1048686" name="Shape 13"/>
          <p:cNvSpPr/>
          <p:nvPr/>
        </p:nvSpPr>
        <p:spPr>
          <a:xfrm>
            <a:off x="6583680" y="3593592"/>
            <a:ext cx="146304" cy="146304"/>
          </a:xfrm>
          <a:prstGeom prst="ellipse"/>
          <a:solidFill>
            <a:srgbClr val="1E2761"/>
          </a:solidFill>
        </p:spPr>
      </p:sp>
      <p:sp>
        <p:nvSpPr>
          <p:cNvPr id="1048687" name="Text 14"/>
          <p:cNvSpPr/>
          <p:nvPr/>
        </p:nvSpPr>
        <p:spPr>
          <a:xfrm>
            <a:off x="6903720" y="3456432"/>
            <a:ext cx="45720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pace with code takeover sessions until concepts are solid</a:t>
            </a:r>
            <a:endParaRPr dirty="0" sz="1300" lang="en-US"/>
          </a:p>
        </p:txBody>
      </p:sp>
      <p:sp>
        <p:nvSpPr>
          <p:cNvPr id="1048688" name="Text 15"/>
          <p:cNvSpPr/>
          <p:nvPr/>
        </p:nvSpPr>
        <p:spPr>
          <a:xfrm>
            <a:off x="6583680" y="4297680"/>
            <a:ext cx="466344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50" i="1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will be reassessed once fundamentals feel solid — expected to be a short-term milestone, not a long runway.</a:t>
            </a:r>
            <a:endParaRPr dirty="0" sz="1250" lang="en-US"/>
          </a:p>
        </p:txBody>
      </p:sp>
      <p:sp>
        <p:nvSpPr>
          <p:cNvPr id="1048689" name="Text 16"/>
          <p:cNvSpPr/>
          <p:nvPr/>
        </p:nvSpPr>
        <p:spPr>
          <a:xfrm>
            <a:off x="548640" y="6473952"/>
            <a:ext cx="105156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dirty="0" sz="900" lang="en-US"/>
          </a:p>
        </p:txBody>
      </p:sp>
      <p:sp>
        <p:nvSpPr>
          <p:cNvPr id="1048690" name="Text 17"/>
          <p:cNvSpPr/>
          <p:nvPr/>
        </p:nvSpPr>
        <p:spPr>
          <a:xfrm>
            <a:off x="11338560" y="6473952"/>
            <a:ext cx="45720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Shape 0"/>
          <p:cNvSpPr/>
          <p:nvPr/>
        </p:nvSpPr>
        <p:spPr>
          <a:xfrm>
            <a:off x="548640" y="502920"/>
            <a:ext cx="502920" cy="502920"/>
          </a:xfrm>
          <a:prstGeom prst="ellipse"/>
          <a:solidFill>
            <a:srgbClr val="1E2761"/>
          </a:solidFill>
        </p:spPr>
      </p:sp>
      <p:sp>
        <p:nvSpPr>
          <p:cNvPr id="1048695" name="Text 1"/>
          <p:cNvSpPr/>
          <p:nvPr/>
        </p:nvSpPr>
        <p:spPr>
          <a:xfrm>
            <a:off x="548640" y="502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2000" lang="en-US"/>
          </a:p>
        </p:txBody>
      </p:sp>
      <p:sp>
        <p:nvSpPr>
          <p:cNvPr id="1048696" name="Text 2"/>
          <p:cNvSpPr/>
          <p:nvPr/>
        </p:nvSpPr>
        <p:spPr>
          <a:xfrm>
            <a:off x="1234440" y="457200"/>
            <a:ext cx="103784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I've Done &amp; Learned So Far</a:t>
            </a:r>
            <a:endParaRPr dirty="0" sz="3000" lang="en-US"/>
          </a:p>
        </p:txBody>
      </p:sp>
      <p:sp>
        <p:nvSpPr>
          <p:cNvPr id="1048697" name="Shape 3"/>
          <p:cNvSpPr/>
          <p:nvPr/>
        </p:nvSpPr>
        <p:spPr>
          <a:xfrm>
            <a:off x="548640" y="160020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</p:spPr>
      </p:sp>
      <p:sp>
        <p:nvSpPr>
          <p:cNvPr id="1048698" name="Shape 4"/>
          <p:cNvSpPr/>
          <p:nvPr/>
        </p:nvSpPr>
        <p:spPr>
          <a:xfrm>
            <a:off x="777240" y="1828800"/>
            <a:ext cx="457200" cy="457200"/>
          </a:xfrm>
          <a:prstGeom prst="ellipse"/>
          <a:solidFill>
            <a:srgbClr val="1E2761"/>
          </a:solidFill>
        </p:spPr>
      </p:sp>
      <p:sp>
        <p:nvSpPr>
          <p:cNvPr id="1048699" name="Text 5"/>
          <p:cNvSpPr/>
          <p:nvPr/>
        </p:nvSpPr>
        <p:spPr>
          <a:xfrm>
            <a:off x="777240" y="182880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600" lang="en-US"/>
          </a:p>
        </p:txBody>
      </p:sp>
      <p:sp>
        <p:nvSpPr>
          <p:cNvPr id="1048700" name="Text 6"/>
          <p:cNvSpPr/>
          <p:nvPr/>
        </p:nvSpPr>
        <p:spPr>
          <a:xfrm>
            <a:off x="1371600" y="1801368"/>
            <a:ext cx="2377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dirty="0" sz="1600" lang="en-US"/>
          </a:p>
        </p:txBody>
      </p:sp>
      <p:sp>
        <p:nvSpPr>
          <p:cNvPr id="1048701" name="Text 7"/>
          <p:cNvSpPr/>
          <p:nvPr/>
        </p:nvSpPr>
        <p:spPr>
          <a:xfrm>
            <a:off x="777240" y="2377440"/>
            <a:ext cx="29260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components, state &amp; hooks</a:t>
            </a:r>
            <a:endParaRPr dirty="0" sz="1200" lang="en-US"/>
          </a:p>
        </p:txBody>
      </p:sp>
      <p:sp>
        <p:nvSpPr>
          <p:cNvPr id="1048702" name="Shape 8"/>
          <p:cNvSpPr/>
          <p:nvPr/>
        </p:nvSpPr>
        <p:spPr>
          <a:xfrm>
            <a:off x="4160520" y="160020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</p:spPr>
      </p:sp>
      <p:sp>
        <p:nvSpPr>
          <p:cNvPr id="1048703" name="Shape 9"/>
          <p:cNvSpPr/>
          <p:nvPr/>
        </p:nvSpPr>
        <p:spPr>
          <a:xfrm>
            <a:off x="4389120" y="1828800"/>
            <a:ext cx="457200" cy="457200"/>
          </a:xfrm>
          <a:prstGeom prst="ellipse"/>
          <a:solidFill>
            <a:srgbClr val="1E2761"/>
          </a:solidFill>
        </p:spPr>
      </p:sp>
      <p:sp>
        <p:nvSpPr>
          <p:cNvPr id="1048704" name="Text 10"/>
          <p:cNvSpPr/>
          <p:nvPr/>
        </p:nvSpPr>
        <p:spPr>
          <a:xfrm>
            <a:off x="4389120" y="182880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600" lang="en-US"/>
          </a:p>
        </p:txBody>
      </p:sp>
      <p:sp>
        <p:nvSpPr>
          <p:cNvPr id="1048705" name="Text 11"/>
          <p:cNvSpPr/>
          <p:nvPr/>
        </p:nvSpPr>
        <p:spPr>
          <a:xfrm>
            <a:off x="4983480" y="1801368"/>
            <a:ext cx="2377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Storybook</a:t>
            </a:r>
            <a:endParaRPr dirty="0" sz="1600" lang="en-US"/>
          </a:p>
        </p:txBody>
      </p:sp>
      <p:sp>
        <p:nvSpPr>
          <p:cNvPr id="1048706" name="Text 12"/>
          <p:cNvSpPr/>
          <p:nvPr/>
        </p:nvSpPr>
        <p:spPr>
          <a:xfrm>
            <a:off x="4389120" y="2377440"/>
            <a:ext cx="29260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documenting UI components</a:t>
            </a:r>
            <a:endParaRPr dirty="0" sz="1200" lang="en-US"/>
          </a:p>
        </p:txBody>
      </p:sp>
      <p:sp>
        <p:nvSpPr>
          <p:cNvPr id="1048707" name="Shape 13"/>
          <p:cNvSpPr/>
          <p:nvPr/>
        </p:nvSpPr>
        <p:spPr>
          <a:xfrm>
            <a:off x="7772400" y="160020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</p:spPr>
      </p:sp>
      <p:sp>
        <p:nvSpPr>
          <p:cNvPr id="1048708" name="Shape 14"/>
          <p:cNvSpPr/>
          <p:nvPr/>
        </p:nvSpPr>
        <p:spPr>
          <a:xfrm>
            <a:off x="8001000" y="1828800"/>
            <a:ext cx="457200" cy="457200"/>
          </a:xfrm>
          <a:prstGeom prst="ellipse"/>
          <a:solidFill>
            <a:srgbClr val="1E2761"/>
          </a:solidFill>
        </p:spPr>
      </p:sp>
      <p:sp>
        <p:nvSpPr>
          <p:cNvPr id="1048709" name="Text 15"/>
          <p:cNvSpPr/>
          <p:nvPr/>
        </p:nvSpPr>
        <p:spPr>
          <a:xfrm>
            <a:off x="8001000" y="182880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600" lang="en-US"/>
          </a:p>
        </p:txBody>
      </p:sp>
      <p:sp>
        <p:nvSpPr>
          <p:cNvPr id="1048710" name="Text 16"/>
          <p:cNvSpPr/>
          <p:nvPr/>
        </p:nvSpPr>
        <p:spPr>
          <a:xfrm>
            <a:off x="8595360" y="1801368"/>
            <a:ext cx="2377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</a:t>
            </a:r>
            <a:endParaRPr dirty="0" sz="1600" lang="en-US"/>
          </a:p>
        </p:txBody>
      </p:sp>
      <p:sp>
        <p:nvSpPr>
          <p:cNvPr id="1048711" name="Text 17"/>
          <p:cNvSpPr/>
          <p:nvPr/>
        </p:nvSpPr>
        <p:spPr>
          <a:xfrm>
            <a:off x="8001000" y="2377440"/>
            <a:ext cx="29260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component library in real UI work</a:t>
            </a:r>
            <a:endParaRPr dirty="0" sz="1200" lang="en-US"/>
          </a:p>
        </p:txBody>
      </p:sp>
      <p:sp>
        <p:nvSpPr>
          <p:cNvPr id="1048712" name="Shape 18"/>
          <p:cNvSpPr/>
          <p:nvPr/>
        </p:nvSpPr>
        <p:spPr>
          <a:xfrm>
            <a:off x="548640" y="34747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</p:spPr>
      </p:sp>
      <p:sp>
        <p:nvSpPr>
          <p:cNvPr id="1048713" name="Shape 19"/>
          <p:cNvSpPr/>
          <p:nvPr/>
        </p:nvSpPr>
        <p:spPr>
          <a:xfrm>
            <a:off x="777240" y="3703320"/>
            <a:ext cx="457200" cy="457200"/>
          </a:xfrm>
          <a:prstGeom prst="ellipse"/>
          <a:solidFill>
            <a:srgbClr val="1E2761"/>
          </a:solidFill>
        </p:spPr>
      </p:sp>
      <p:sp>
        <p:nvSpPr>
          <p:cNvPr id="1048714" name="Text 20"/>
          <p:cNvSpPr/>
          <p:nvPr/>
        </p:nvSpPr>
        <p:spPr>
          <a:xfrm>
            <a:off x="777240" y="37033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600" lang="en-US"/>
          </a:p>
        </p:txBody>
      </p:sp>
      <p:sp>
        <p:nvSpPr>
          <p:cNvPr id="1048715" name="Text 21"/>
          <p:cNvSpPr/>
          <p:nvPr/>
        </p:nvSpPr>
        <p:spPr>
          <a:xfrm>
            <a:off x="1371600" y="3675888"/>
            <a:ext cx="2377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Judgment</a:t>
            </a:r>
            <a:endParaRPr dirty="0" sz="1600" lang="en-US"/>
          </a:p>
        </p:txBody>
      </p:sp>
      <p:sp>
        <p:nvSpPr>
          <p:cNvPr id="1048716" name="Text 22"/>
          <p:cNvSpPr/>
          <p:nvPr/>
        </p:nvSpPr>
        <p:spPr>
          <a:xfrm>
            <a:off x="777240" y="4251960"/>
            <a:ext cx="29260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for genuinely good UI</a:t>
            </a:r>
            <a:endParaRPr dirty="0" sz="1200" lang="en-US"/>
          </a:p>
        </p:txBody>
      </p:sp>
      <p:sp>
        <p:nvSpPr>
          <p:cNvPr id="1048717" name="Shape 23"/>
          <p:cNvSpPr/>
          <p:nvPr/>
        </p:nvSpPr>
        <p:spPr>
          <a:xfrm>
            <a:off x="4160520" y="34747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</p:spPr>
      </p:sp>
      <p:sp>
        <p:nvSpPr>
          <p:cNvPr id="1048718" name="Shape 24"/>
          <p:cNvSpPr/>
          <p:nvPr/>
        </p:nvSpPr>
        <p:spPr>
          <a:xfrm>
            <a:off x="4389120" y="3703320"/>
            <a:ext cx="457200" cy="457200"/>
          </a:xfrm>
          <a:prstGeom prst="ellipse"/>
          <a:solidFill>
            <a:srgbClr val="1E2761"/>
          </a:solidFill>
        </p:spPr>
      </p:sp>
      <p:sp>
        <p:nvSpPr>
          <p:cNvPr id="1048719" name="Text 25"/>
          <p:cNvSpPr/>
          <p:nvPr/>
        </p:nvSpPr>
        <p:spPr>
          <a:xfrm>
            <a:off x="4389120" y="37033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600" lang="en-US"/>
          </a:p>
        </p:txBody>
      </p:sp>
      <p:sp>
        <p:nvSpPr>
          <p:cNvPr id="1048720" name="Text 26"/>
          <p:cNvSpPr/>
          <p:nvPr/>
        </p:nvSpPr>
        <p:spPr>
          <a:xfrm>
            <a:off x="4983480" y="3675888"/>
            <a:ext cx="2377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Practices</a:t>
            </a:r>
            <a:endParaRPr dirty="0" sz="1600" lang="en-US"/>
          </a:p>
        </p:txBody>
      </p:sp>
      <p:sp>
        <p:nvSpPr>
          <p:cNvPr id="1048721" name="Text 27"/>
          <p:cNvSpPr/>
          <p:nvPr/>
        </p:nvSpPr>
        <p:spPr>
          <a:xfrm>
            <a:off x="4389120" y="4251960"/>
            <a:ext cx="29260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maintainable coding habits</a:t>
            </a:r>
            <a:endParaRPr dirty="0" sz="1200" lang="en-US"/>
          </a:p>
        </p:txBody>
      </p:sp>
      <p:sp>
        <p:nvSpPr>
          <p:cNvPr id="1048722" name="Shape 28"/>
          <p:cNvSpPr/>
          <p:nvPr/>
        </p:nvSpPr>
        <p:spPr>
          <a:xfrm>
            <a:off x="7772400" y="34747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</p:spPr>
      </p:sp>
      <p:sp>
        <p:nvSpPr>
          <p:cNvPr id="1048723" name="Shape 29"/>
          <p:cNvSpPr/>
          <p:nvPr/>
        </p:nvSpPr>
        <p:spPr>
          <a:xfrm>
            <a:off x="8001000" y="3703320"/>
            <a:ext cx="457200" cy="457200"/>
          </a:xfrm>
          <a:prstGeom prst="ellipse"/>
          <a:solidFill>
            <a:srgbClr val="1E2761"/>
          </a:solidFill>
        </p:spPr>
      </p:sp>
      <p:sp>
        <p:nvSpPr>
          <p:cNvPr id="1048724" name="Text 30"/>
          <p:cNvSpPr/>
          <p:nvPr/>
        </p:nvSpPr>
        <p:spPr>
          <a:xfrm>
            <a:off x="8001000" y="37033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600" lang="en-US"/>
          </a:p>
        </p:txBody>
      </p:sp>
      <p:sp>
        <p:nvSpPr>
          <p:cNvPr id="1048725" name="Text 31"/>
          <p:cNvSpPr/>
          <p:nvPr/>
        </p:nvSpPr>
        <p:spPr>
          <a:xfrm>
            <a:off x="8595360" y="3675888"/>
            <a:ext cx="2377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Basics</a:t>
            </a:r>
            <a:endParaRPr dirty="0" sz="1600" lang="en-US"/>
          </a:p>
        </p:txBody>
      </p:sp>
      <p:sp>
        <p:nvSpPr>
          <p:cNvPr id="1048726" name="Text 32"/>
          <p:cNvSpPr/>
          <p:nvPr/>
        </p:nvSpPr>
        <p:spPr>
          <a:xfrm>
            <a:off x="8001000" y="4251960"/>
            <a:ext cx="29260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SEO fundamentals</a:t>
            </a:r>
            <a:endParaRPr dirty="0" sz="1200" lang="en-US"/>
          </a:p>
        </p:txBody>
      </p:sp>
      <p:sp>
        <p:nvSpPr>
          <p:cNvPr id="1048727" name="Text 33"/>
          <p:cNvSpPr/>
          <p:nvPr/>
        </p:nvSpPr>
        <p:spPr>
          <a:xfrm>
            <a:off x="548640" y="5394960"/>
            <a:ext cx="1106424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i="1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working through project documentation and proactively talking to colleagues about their projects during free time.</a:t>
            </a:r>
            <a:endParaRPr dirty="0" sz="1300" lang="en-US"/>
          </a:p>
        </p:txBody>
      </p:sp>
      <p:sp>
        <p:nvSpPr>
          <p:cNvPr id="1048728" name="Text 34"/>
          <p:cNvSpPr/>
          <p:nvPr/>
        </p:nvSpPr>
        <p:spPr>
          <a:xfrm>
            <a:off x="548640" y="6473952"/>
            <a:ext cx="105156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Jintu Basumatary  |  Technical Analyst, Frontend Engineer — Enterprise Payments Hub (NEFT/RTGS)</a:t>
            </a:r>
            <a:endParaRPr dirty="0" sz="900" lang="en-US"/>
          </a:p>
        </p:txBody>
      </p:sp>
      <p:sp>
        <p:nvSpPr>
          <p:cNvPr id="1048729" name="Text 35"/>
          <p:cNvSpPr/>
          <p:nvPr/>
        </p:nvSpPr>
        <p:spPr>
          <a:xfrm>
            <a:off x="11338560" y="6473952"/>
            <a:ext cx="45720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Shape 0"/>
          <p:cNvSpPr/>
          <p:nvPr/>
        </p:nvSpPr>
        <p:spPr>
          <a:xfrm>
            <a:off x="-1371600" y="-1371600"/>
            <a:ext cx="3657600" cy="3657600"/>
          </a:xfrm>
          <a:prstGeom prst="ellipse"/>
          <a:solidFill>
            <a:srgbClr val="27327A"/>
          </a:solidFill>
        </p:spPr>
      </p:sp>
      <p:sp>
        <p:nvSpPr>
          <p:cNvPr id="1048734" name="Shape 1"/>
          <p:cNvSpPr/>
          <p:nvPr/>
        </p:nvSpPr>
        <p:spPr>
          <a:xfrm>
            <a:off x="10515600" y="4572000"/>
            <a:ext cx="3200400" cy="3200400"/>
          </a:xfrm>
          <a:prstGeom prst="ellipse"/>
          <a:solidFill>
            <a:srgbClr val="27327A"/>
          </a:solidFill>
        </p:spPr>
      </p:sp>
      <p:sp>
        <p:nvSpPr>
          <p:cNvPr id="1048735" name="Shape 2"/>
          <p:cNvSpPr/>
          <p:nvPr/>
        </p:nvSpPr>
        <p:spPr>
          <a:xfrm>
            <a:off x="548640" y="502920"/>
            <a:ext cx="502920" cy="502920"/>
          </a:xfrm>
          <a:prstGeom prst="ellipse"/>
          <a:solidFill>
            <a:srgbClr val="FFFFFF"/>
          </a:solidFill>
        </p:spPr>
      </p:sp>
      <p:sp>
        <p:nvSpPr>
          <p:cNvPr id="1048736" name="Text 3"/>
          <p:cNvSpPr/>
          <p:nvPr/>
        </p:nvSpPr>
        <p:spPr>
          <a:xfrm>
            <a:off x="548640" y="502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2000" lang="en-US"/>
          </a:p>
        </p:txBody>
      </p:sp>
      <p:sp>
        <p:nvSpPr>
          <p:cNvPr id="1048737" name="Text 4"/>
          <p:cNvSpPr/>
          <p:nvPr/>
        </p:nvSpPr>
        <p:spPr>
          <a:xfrm>
            <a:off x="1234440" y="457200"/>
            <a:ext cx="103784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Years From Now</a:t>
            </a:r>
            <a:endParaRPr dirty="0" sz="3000" lang="en-US"/>
          </a:p>
        </p:txBody>
      </p:sp>
      <p:sp>
        <p:nvSpPr>
          <p:cNvPr id="1048738" name="Shape 5"/>
          <p:cNvSpPr/>
          <p:nvPr/>
        </p:nvSpPr>
        <p:spPr>
          <a:xfrm>
            <a:off x="548640" y="1737360"/>
            <a:ext cx="11064240" cy="3749040"/>
          </a:xfrm>
          <a:prstGeom prst="roundRect">
            <a:avLst>
              <a:gd name="adj" fmla="val 2927"/>
            </a:avLst>
          </a:prstGeom>
          <a:solidFill>
            <a:srgbClr val="27327A"/>
          </a:solidFill>
        </p:spPr>
      </p:sp>
      <p:sp>
        <p:nvSpPr>
          <p:cNvPr id="1048739" name="Shape 6"/>
          <p:cNvSpPr/>
          <p:nvPr/>
        </p:nvSpPr>
        <p:spPr>
          <a:xfrm>
            <a:off x="1005840" y="2103120"/>
            <a:ext cx="3246120" cy="3017520"/>
          </a:xfrm>
          <a:prstGeom prst="roundRect">
            <a:avLst>
              <a:gd name="adj" fmla="val 3030"/>
            </a:avLst>
          </a:prstGeom>
          <a:solidFill>
            <a:srgbClr val="1A2258"/>
          </a:solidFill>
        </p:spPr>
      </p:sp>
      <p:sp>
        <p:nvSpPr>
          <p:cNvPr id="1048740" name="Shape 7"/>
          <p:cNvSpPr/>
          <p:nvPr/>
        </p:nvSpPr>
        <p:spPr>
          <a:xfrm>
            <a:off x="1280160" y="2423160"/>
            <a:ext cx="548640" cy="548640"/>
          </a:xfrm>
          <a:prstGeom prst="ellipse"/>
          <a:solidFill>
            <a:srgbClr val="CADCFC"/>
          </a:solidFill>
        </p:spPr>
      </p:sp>
      <p:sp>
        <p:nvSpPr>
          <p:cNvPr id="1048741" name="Text 8"/>
          <p:cNvSpPr/>
          <p:nvPr/>
        </p:nvSpPr>
        <p:spPr>
          <a:xfrm>
            <a:off x="1280160" y="3200400"/>
            <a:ext cx="26974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Owning Assigned Work</a:t>
            </a:r>
            <a:endParaRPr dirty="0" sz="1700" lang="en-US"/>
          </a:p>
        </p:txBody>
      </p:sp>
      <p:sp>
        <p:nvSpPr>
          <p:cNvPr id="1048742" name="Text 9"/>
          <p:cNvSpPr/>
          <p:nvPr/>
        </p:nvSpPr>
        <p:spPr>
          <a:xfrm>
            <a:off x="1280160" y="3886200"/>
            <a:ext cx="269748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handling tasks assigned by the team, end to end, with confidence</a:t>
            </a:r>
            <a:endParaRPr dirty="0" sz="1250" lang="en-US"/>
          </a:p>
        </p:txBody>
      </p:sp>
      <p:sp>
        <p:nvSpPr>
          <p:cNvPr id="1048743" name="Shape 10"/>
          <p:cNvSpPr/>
          <p:nvPr/>
        </p:nvSpPr>
        <p:spPr>
          <a:xfrm>
            <a:off x="4526280" y="2103120"/>
            <a:ext cx="3246120" cy="3017520"/>
          </a:xfrm>
          <a:prstGeom prst="roundRect">
            <a:avLst>
              <a:gd name="adj" fmla="val 3030"/>
            </a:avLst>
          </a:prstGeom>
          <a:solidFill>
            <a:srgbClr val="1A2258"/>
          </a:solidFill>
        </p:spPr>
      </p:sp>
      <p:sp>
        <p:nvSpPr>
          <p:cNvPr id="1048744" name="Shape 11"/>
          <p:cNvSpPr/>
          <p:nvPr/>
        </p:nvSpPr>
        <p:spPr>
          <a:xfrm>
            <a:off x="4800600" y="2423160"/>
            <a:ext cx="548640" cy="548640"/>
          </a:xfrm>
          <a:prstGeom prst="ellipse"/>
          <a:solidFill>
            <a:srgbClr val="CADCFC"/>
          </a:solidFill>
        </p:spPr>
      </p:sp>
      <p:sp>
        <p:nvSpPr>
          <p:cNvPr id="1048745" name="Text 12"/>
          <p:cNvSpPr/>
          <p:nvPr/>
        </p:nvSpPr>
        <p:spPr>
          <a:xfrm>
            <a:off x="4800600" y="3200400"/>
            <a:ext cx="26974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Technical Grasp</a:t>
            </a:r>
            <a:endParaRPr dirty="0" sz="1700" lang="en-US"/>
          </a:p>
        </p:txBody>
      </p:sp>
      <p:sp>
        <p:nvSpPr>
          <p:cNvPr id="1048746" name="Text 13"/>
          <p:cNvSpPr/>
          <p:nvPr/>
        </p:nvSpPr>
        <p:spPr>
          <a:xfrm>
            <a:off x="4800600" y="3886200"/>
            <a:ext cx="269748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solid, dependable command over my area of work and the project stack</a:t>
            </a:r>
            <a:endParaRPr dirty="0" sz="1250" lang="en-US"/>
          </a:p>
        </p:txBody>
      </p:sp>
      <p:sp>
        <p:nvSpPr>
          <p:cNvPr id="1048747" name="Shape 14"/>
          <p:cNvSpPr/>
          <p:nvPr/>
        </p:nvSpPr>
        <p:spPr>
          <a:xfrm>
            <a:off x="8046720" y="2103120"/>
            <a:ext cx="3246120" cy="3017520"/>
          </a:xfrm>
          <a:prstGeom prst="roundRect">
            <a:avLst>
              <a:gd name="adj" fmla="val 3030"/>
            </a:avLst>
          </a:prstGeom>
          <a:solidFill>
            <a:srgbClr val="1A2258"/>
          </a:solidFill>
        </p:spPr>
      </p:sp>
      <p:sp>
        <p:nvSpPr>
          <p:cNvPr id="1048748" name="Shape 15"/>
          <p:cNvSpPr/>
          <p:nvPr/>
        </p:nvSpPr>
        <p:spPr>
          <a:xfrm>
            <a:off x="8321040" y="2423160"/>
            <a:ext cx="548640" cy="548640"/>
          </a:xfrm>
          <a:prstGeom prst="ellipse"/>
          <a:solidFill>
            <a:srgbClr val="CADCFC"/>
          </a:solidFill>
        </p:spPr>
      </p:sp>
      <p:sp>
        <p:nvSpPr>
          <p:cNvPr id="1048749" name="Text 16"/>
          <p:cNvSpPr/>
          <p:nvPr/>
        </p:nvSpPr>
        <p:spPr>
          <a:xfrm>
            <a:off x="8321040" y="3200400"/>
            <a:ext cx="26974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Contributor</a:t>
            </a:r>
            <a:endParaRPr dirty="0" sz="1700" lang="en-US"/>
          </a:p>
        </p:txBody>
      </p:sp>
      <p:sp>
        <p:nvSpPr>
          <p:cNvPr id="1048750" name="Text 17"/>
          <p:cNvSpPr/>
          <p:nvPr/>
        </p:nvSpPr>
        <p:spPr>
          <a:xfrm>
            <a:off x="8321040" y="3886200"/>
            <a:ext cx="269748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the team can count on without needing close guidance</a:t>
            </a:r>
            <a:endParaRPr dirty="0" sz="125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2026-09-22T00:28:44Z</dcterms:created>
  <dcterms:modified xsi:type="dcterms:W3CDTF">2026-09-22T11:50:01Z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ddd34a857f184e26ba714f3edd4a3bbf_23</vt:lpwstr>
  </property>
</Properties>
</file>